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76" r:id="rId5"/>
    <p:sldId id="256" r:id="rId6"/>
    <p:sldId id="283" r:id="rId7"/>
    <p:sldId id="257" r:id="rId8"/>
    <p:sldId id="278" r:id="rId9"/>
    <p:sldId id="258" r:id="rId10"/>
    <p:sldId id="277" r:id="rId11"/>
    <p:sldId id="259" r:id="rId12"/>
    <p:sldId id="279" r:id="rId13"/>
    <p:sldId id="284" r:id="rId14"/>
    <p:sldId id="285" r:id="rId15"/>
    <p:sldId id="286" r:id="rId16"/>
    <p:sldId id="294" r:id="rId17"/>
    <p:sldId id="291" r:id="rId18"/>
    <p:sldId id="287" r:id="rId19"/>
    <p:sldId id="288" r:id="rId20"/>
    <p:sldId id="289" r:id="rId21"/>
    <p:sldId id="290" r:id="rId22"/>
    <p:sldId id="281" r:id="rId23"/>
    <p:sldId id="292" r:id="rId24"/>
    <p:sldId id="293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18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45B08281-154C-4FEF-A6DF-18BA3AC0F374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04D857D4-BD7E-4A06-844B-AAD504F1114F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916AFA50-87A4-4E99-B112-8C6B1DFB84B2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6B3905CA-BF0F-4A1B-AA0D-85E42F5D5A85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D3DA9A77-60C0-4BB8-898D-2828EE4073AD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C1F30CD5-42B1-4614-9F46-5D29928CC2DB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EE6020E3-D95B-4E55-964F-4B1A98BDAA6F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AE46C21D-EBB5-4F3D-B06D-166777189317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1DFFEA26-EB1D-498C-95CD-1ECE586790AA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539842EE-D56F-4F18-94E7-094CEF23F906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FC9A72C8-1C87-42EF-8A11-BF6DFA19ED8B}" type="datetime1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91F31-5CDD-674B-068F-36A2D97F3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9540FA9-0118-4CA5-9B6A-7D5F68FB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040" y="2823411"/>
            <a:ext cx="7992549" cy="1604210"/>
          </a:xfrm>
        </p:spPr>
        <p:txBody>
          <a:bodyPr/>
          <a:lstStyle/>
          <a:p>
            <a:pPr algn="ctr"/>
            <a:r>
              <a:rPr lang="en-US" sz="7200" dirty="0"/>
              <a:t>WELCOME TO OUR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25027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203" y="587829"/>
            <a:ext cx="7096933" cy="2841171"/>
          </a:xfrm>
        </p:spPr>
        <p:txBody>
          <a:bodyPr/>
          <a:lstStyle/>
          <a:p>
            <a:r>
              <a:rPr lang="en-US" sz="6600" b="0" i="0" u="none" strike="noStrike" baseline="0" dirty="0">
                <a:latin typeface="Calibri" panose="020F0502020204030204" pitchFamily="34" charset="0"/>
              </a:rPr>
              <a:t>A Study of Garment Worker Wages and Expenses.</a:t>
            </a:r>
            <a:endParaRPr lang="en-US" sz="41300" dirty="0">
              <a:latin typeface="Arial Narrow" panose="020B0606020202030204" pitchFamily="34" charset="0"/>
            </a:endParaRPr>
          </a:p>
        </p:txBody>
      </p:sp>
      <p:pic>
        <p:nvPicPr>
          <p:cNvPr id="1026" name="Picture 2" descr="How do we improve maternal health of garment workers? | The Daily Star">
            <a:extLst>
              <a:ext uri="{FF2B5EF4-FFF2-40B4-BE49-F238E27FC236}">
                <a16:creationId xmlns:a16="http://schemas.microsoft.com/office/drawing/2014/main" id="{D96B6C94-EF93-4A99-BC96-5C83985B8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6185647" cy="341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omen workforce declining in RMG sector | Prothom Alo">
            <a:extLst>
              <a:ext uri="{FF2B5EF4-FFF2-40B4-BE49-F238E27FC236}">
                <a16:creationId xmlns:a16="http://schemas.microsoft.com/office/drawing/2014/main" id="{4677A746-A0EF-413B-BE07-5E7DE58D9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647" y="3429000"/>
            <a:ext cx="600635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5061-906E-4785-9FCD-AF7686A4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meet with our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679F2-228C-41C3-B20D-E5FDE21616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Md. Selim Ahmed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2332D-B982-4C10-81C0-3CC0F13ABC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23350" y="2811646"/>
            <a:ext cx="2281237" cy="343827"/>
          </a:xfrm>
        </p:spPr>
        <p:txBody>
          <a:bodyPr/>
          <a:lstStyle/>
          <a:p>
            <a:r>
              <a:rPr lang="en-US" dirty="0"/>
              <a:t>ID:223014188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D5FA7-F951-45A1-B102-625F701F51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Aftan</a:t>
            </a:r>
            <a:r>
              <a:rPr lang="en-US" dirty="0"/>
              <a:t> Aftab </a:t>
            </a:r>
            <a:r>
              <a:rPr lang="en-US" dirty="0" err="1"/>
              <a:t>Rousad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43B982-7FFC-4961-A5D6-7403CE46F4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222014019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66557F8-0CD4-4818-BDE7-219676B6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211" y="4697880"/>
            <a:ext cx="4937601" cy="1658470"/>
          </a:xfrm>
        </p:spPr>
        <p:txBody>
          <a:bodyPr/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Course Teacher: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Md </a:t>
            </a:r>
            <a:r>
              <a:rPr lang="en-US" sz="2000" dirty="0" err="1">
                <a:solidFill>
                  <a:schemeClr val="tx1"/>
                </a:solidFill>
              </a:rPr>
              <a:t>Akhikur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Rahaman</a:t>
            </a:r>
            <a:r>
              <a:rPr lang="en-US" sz="2000" dirty="0">
                <a:solidFill>
                  <a:schemeClr val="tx1"/>
                </a:solidFill>
              </a:rPr>
              <a:t>, PhD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University Of Liberal Arts Bangladesh</a:t>
            </a:r>
          </a:p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0C70E0-F85B-417B-8FB8-A5FD1749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4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 Pre Analyzing </a:t>
            </a:r>
          </a:p>
          <a:p>
            <a:r>
              <a:rPr lang="en-US" dirty="0"/>
              <a:t>Data Analysis </a:t>
            </a:r>
          </a:p>
          <a:p>
            <a:r>
              <a:rPr lang="en-US" dirty="0"/>
              <a:t>Data Visualization 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1C40-80CB-CE47-073E-5E0C82FDD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44" y="1669000"/>
            <a:ext cx="6245912" cy="2387600"/>
          </a:xfrm>
        </p:spPr>
        <p:txBody>
          <a:bodyPr/>
          <a:lstStyle/>
          <a:p>
            <a:r>
              <a:rPr lang="en-GB" sz="8800" dirty="0"/>
              <a:t>Introduction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32485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07910"/>
            <a:ext cx="9779183" cy="1819470"/>
          </a:xfrm>
        </p:spPr>
        <p:txBody>
          <a:bodyPr>
            <a:noAutofit/>
          </a:bodyPr>
          <a:lstStyle/>
          <a:p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br>
              <a:rPr lang="en-GB" sz="4400" dirty="0"/>
            </a:br>
            <a:r>
              <a:rPr lang="en-GB" sz="4400" dirty="0"/>
              <a:t>Sample Populations:</a:t>
            </a:r>
            <a:br>
              <a:rPr lang="en-GB" sz="4400" dirty="0"/>
            </a:br>
            <a:r>
              <a:rPr lang="en-GB" sz="4400" dirty="0"/>
              <a:t>                                   Garments Workers</a:t>
            </a:r>
            <a:br>
              <a:rPr lang="en-US" sz="4800" dirty="0"/>
            </a:br>
            <a:r>
              <a:rPr lang="en-US" sz="4800" dirty="0"/>
              <a:t>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4" name="Picture 2" descr="Garment Workers Take on Wall Street and Wage Theft | Truthout">
            <a:extLst>
              <a:ext uri="{FF2B5EF4-FFF2-40B4-BE49-F238E27FC236}">
                <a16:creationId xmlns:a16="http://schemas.microsoft.com/office/drawing/2014/main" id="{63C252AF-223D-4518-85F8-D74A3387C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290303"/>
            <a:ext cx="6338721" cy="456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arment workers — Collective Fashion Justice">
            <a:extLst>
              <a:ext uri="{FF2B5EF4-FFF2-40B4-BE49-F238E27FC236}">
                <a16:creationId xmlns:a16="http://schemas.microsoft.com/office/drawing/2014/main" id="{310AA63A-75AC-450C-B86C-71A2084AE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720" y="2290302"/>
            <a:ext cx="5894283" cy="456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C6BC-CDC6-1068-F031-0DA8C979A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 of RMG sector in national Economy.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69AB2-BB6E-03CF-C37B-0559B229F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104" name="Picture 8" descr="Dependency on single sector exports intensifies - The Business Post">
            <a:extLst>
              <a:ext uri="{FF2B5EF4-FFF2-40B4-BE49-F238E27FC236}">
                <a16:creationId xmlns:a16="http://schemas.microsoft.com/office/drawing/2014/main" id="{89C9F418-85D5-44D5-B2D0-CC37218F0A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7412"/>
            <a:ext cx="12192000" cy="493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31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96" y="469304"/>
            <a:ext cx="6245912" cy="14061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sz="4800" dirty="0"/>
              <a:t>Collect Data from the garments workers.</a:t>
            </a:r>
            <a:endParaRPr lang="en-US" sz="480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9FE309-C4E9-465B-8601-50CEC44CAD6E}"/>
              </a:ext>
            </a:extLst>
          </p:cNvPr>
          <p:cNvSpPr txBox="1">
            <a:spLocks/>
          </p:cNvSpPr>
          <p:nvPr/>
        </p:nvSpPr>
        <p:spPr>
          <a:xfrm>
            <a:off x="131796" y="5746379"/>
            <a:ext cx="6288061" cy="14361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800" dirty="0"/>
              <a:t>Method: Random</a:t>
            </a:r>
            <a:endParaRPr lang="en-US" sz="4800" dirty="0"/>
          </a:p>
        </p:txBody>
      </p:sp>
      <p:pic>
        <p:nvPicPr>
          <p:cNvPr id="2054" name="Picture 6" descr="What Is Simple Random Sampling?">
            <a:extLst>
              <a:ext uri="{FF2B5EF4-FFF2-40B4-BE49-F238E27FC236}">
                <a16:creationId xmlns:a16="http://schemas.microsoft.com/office/drawing/2014/main" id="{9FF635E8-4580-408B-BA04-A30F664C9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96" y="1703297"/>
            <a:ext cx="6093349" cy="380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6E10-2311-C2B7-1915-054CE801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90095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Collected Data 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Total 110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7D2D9-1263-FD76-8561-64327505C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5AEDE0F7-4DE7-4114-9164-264550424F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30078"/>
              </p:ext>
            </p:extLst>
          </p:nvPr>
        </p:nvGraphicFramePr>
        <p:xfrm>
          <a:off x="0" y="1417320"/>
          <a:ext cx="11223812" cy="201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04859">
                  <a:extLst>
                    <a:ext uri="{9D8B030D-6E8A-4147-A177-3AD203B41FA5}">
                      <a16:colId xmlns:a16="http://schemas.microsoft.com/office/drawing/2014/main" val="962303703"/>
                    </a:ext>
                  </a:extLst>
                </a:gridCol>
                <a:gridCol w="5518953">
                  <a:extLst>
                    <a:ext uri="{9D8B030D-6E8A-4147-A177-3AD203B41FA5}">
                      <a16:colId xmlns:a16="http://schemas.microsoft.com/office/drawing/2014/main" val="859155089"/>
                    </a:ext>
                  </a:extLst>
                </a:gridCol>
              </a:tblGrid>
              <a:tr h="558799">
                <a:tc gridSpan="2"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4400" dirty="0">
                          <a:effectLst/>
                        </a:rPr>
                        <a:t>Gender</a:t>
                      </a:r>
                      <a:endParaRPr lang="en-US" sz="4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300091"/>
                  </a:ext>
                </a:extLst>
              </a:tr>
              <a:tr h="558799"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4400" dirty="0">
                          <a:effectLst/>
                        </a:rPr>
                        <a:t>Male</a:t>
                      </a:r>
                      <a:endParaRPr lang="en-US" sz="4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4400">
                          <a:effectLst/>
                        </a:rPr>
                        <a:t>42</a:t>
                      </a:r>
                      <a:endParaRPr lang="en-US" sz="4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9942531"/>
                  </a:ext>
                </a:extLst>
              </a:tr>
              <a:tr h="558799"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4400">
                          <a:effectLst/>
                        </a:rPr>
                        <a:t>Female</a:t>
                      </a:r>
                      <a:endParaRPr lang="en-US" sz="4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4400" dirty="0">
                          <a:effectLst/>
                        </a:rPr>
                        <a:t>68</a:t>
                      </a:r>
                      <a:endParaRPr lang="en-US" sz="4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4834889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DA06D2E4-E3EE-409B-8BD5-DE9BE1A0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6553768" cy="342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F92C13-C629-43F3-9249-F21347B17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083" y="4029798"/>
            <a:ext cx="5482978" cy="201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8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6E10-2311-C2B7-1915-054CE801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90095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Collected Data 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Total 110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7D2D9-1263-FD76-8561-64327505C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D4F54B2-BD9F-4366-8B7B-1190E60E1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362167"/>
              </p:ext>
            </p:extLst>
          </p:nvPr>
        </p:nvGraphicFramePr>
        <p:xfrm>
          <a:off x="300942" y="1281953"/>
          <a:ext cx="11035493" cy="19487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5021">
                  <a:extLst>
                    <a:ext uri="{9D8B030D-6E8A-4147-A177-3AD203B41FA5}">
                      <a16:colId xmlns:a16="http://schemas.microsoft.com/office/drawing/2014/main" val="3512748682"/>
                    </a:ext>
                  </a:extLst>
                </a:gridCol>
                <a:gridCol w="3620506">
                  <a:extLst>
                    <a:ext uri="{9D8B030D-6E8A-4147-A177-3AD203B41FA5}">
                      <a16:colId xmlns:a16="http://schemas.microsoft.com/office/drawing/2014/main" val="3100553408"/>
                    </a:ext>
                  </a:extLst>
                </a:gridCol>
                <a:gridCol w="3679966">
                  <a:extLst>
                    <a:ext uri="{9D8B030D-6E8A-4147-A177-3AD203B41FA5}">
                      <a16:colId xmlns:a16="http://schemas.microsoft.com/office/drawing/2014/main" val="3702693998"/>
                    </a:ext>
                  </a:extLst>
                </a:gridCol>
              </a:tblGrid>
              <a:tr h="441198">
                <a:tc gridSpan="3"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2800" dirty="0">
                          <a:effectLst/>
                        </a:rPr>
                        <a:t>Marital Status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158171"/>
                  </a:ext>
                </a:extLst>
              </a:tr>
              <a:tr h="520977"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2800" dirty="0">
                          <a:effectLst/>
                        </a:rPr>
                        <a:t>Single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2800">
                          <a:effectLst/>
                        </a:rPr>
                        <a:t>Married</a:t>
                      </a:r>
                      <a:endParaRPr lang="en-US" sz="2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2800" dirty="0">
                          <a:effectLst/>
                        </a:rPr>
                        <a:t>Divorced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7272319"/>
                  </a:ext>
                </a:extLst>
              </a:tr>
              <a:tr h="545371"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2800" dirty="0">
                          <a:effectLst/>
                        </a:rPr>
                        <a:t>21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2800">
                          <a:effectLst/>
                        </a:rPr>
                        <a:t>65</a:t>
                      </a:r>
                      <a:endParaRPr lang="en-US" sz="28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US" sz="2800" dirty="0">
                          <a:effectLst/>
                        </a:rPr>
                        <a:t>24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7079849"/>
                  </a:ext>
                </a:extLst>
              </a:tr>
              <a:tr h="441198"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GB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19 %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GB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59 %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7815" marR="1598295" indent="120015" algn="ctr">
                        <a:spcAft>
                          <a:spcPts val="20"/>
                        </a:spcAft>
                      </a:pPr>
                      <a:r>
                        <a:rPr lang="en-GB" sz="2800" dirty="0">
                          <a:effectLst/>
                        </a:rPr>
                        <a:t>21.8 %</a:t>
                      </a:r>
                      <a:endParaRPr lang="en-US" sz="28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294473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D70C8AA-D63E-41BA-ADBF-88E3CF310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232" y="3230697"/>
            <a:ext cx="6553768" cy="36273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0FAA43-A1C8-4F58-A8A8-CF858D13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1833"/>
            <a:ext cx="5522259" cy="133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5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6E10-2311-C2B7-1915-054CE801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90095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Collected Data 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Total 110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7D2D9-1263-FD76-8561-64327505C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E4E2785A-245C-401D-AFF6-C99CEF7B7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558851"/>
              </p:ext>
            </p:extLst>
          </p:nvPr>
        </p:nvGraphicFramePr>
        <p:xfrm>
          <a:off x="156839" y="1281953"/>
          <a:ext cx="1127894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737">
                  <a:extLst>
                    <a:ext uri="{9D8B030D-6E8A-4147-A177-3AD203B41FA5}">
                      <a16:colId xmlns:a16="http://schemas.microsoft.com/office/drawing/2014/main" val="3924669625"/>
                    </a:ext>
                  </a:extLst>
                </a:gridCol>
                <a:gridCol w="2819737">
                  <a:extLst>
                    <a:ext uri="{9D8B030D-6E8A-4147-A177-3AD203B41FA5}">
                      <a16:colId xmlns:a16="http://schemas.microsoft.com/office/drawing/2014/main" val="3414049459"/>
                    </a:ext>
                  </a:extLst>
                </a:gridCol>
                <a:gridCol w="2819737">
                  <a:extLst>
                    <a:ext uri="{9D8B030D-6E8A-4147-A177-3AD203B41FA5}">
                      <a16:colId xmlns:a16="http://schemas.microsoft.com/office/drawing/2014/main" val="2482733734"/>
                    </a:ext>
                  </a:extLst>
                </a:gridCol>
                <a:gridCol w="2819737">
                  <a:extLst>
                    <a:ext uri="{9D8B030D-6E8A-4147-A177-3AD203B41FA5}">
                      <a16:colId xmlns:a16="http://schemas.microsoft.com/office/drawing/2014/main" val="3920745359"/>
                    </a:ext>
                  </a:extLst>
                </a:gridCol>
              </a:tblGrid>
              <a:tr h="536762">
                <a:tc gridSpan="4"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Age</a:t>
                      </a:r>
                      <a:endParaRPr lang="en-US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540698"/>
                  </a:ext>
                </a:extLst>
              </a:tr>
              <a:tr h="536762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Under 18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18 to 25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25 to 35 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Above 35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19865"/>
                  </a:ext>
                </a:extLst>
              </a:tr>
              <a:tr h="536762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10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29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39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129140"/>
                  </a:ext>
                </a:extLst>
              </a:tr>
              <a:tr h="536762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9 %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26.4 %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35.5 %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80640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4A67BC29-B779-464C-847A-0151696D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8433"/>
            <a:ext cx="6553768" cy="32595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15DF39-F592-44A8-8081-01B93523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906" y="4499386"/>
            <a:ext cx="5818094" cy="87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90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6E10-2311-C2B7-1915-054CE801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90095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Collected Data 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Total 110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7D2D9-1263-FD76-8561-64327505C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E4E2785A-245C-401D-AFF6-C99CEF7B7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494363"/>
              </p:ext>
            </p:extLst>
          </p:nvPr>
        </p:nvGraphicFramePr>
        <p:xfrm>
          <a:off x="156839" y="1281953"/>
          <a:ext cx="1127894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737">
                  <a:extLst>
                    <a:ext uri="{9D8B030D-6E8A-4147-A177-3AD203B41FA5}">
                      <a16:colId xmlns:a16="http://schemas.microsoft.com/office/drawing/2014/main" val="3924669625"/>
                    </a:ext>
                  </a:extLst>
                </a:gridCol>
                <a:gridCol w="2819737">
                  <a:extLst>
                    <a:ext uri="{9D8B030D-6E8A-4147-A177-3AD203B41FA5}">
                      <a16:colId xmlns:a16="http://schemas.microsoft.com/office/drawing/2014/main" val="3414049459"/>
                    </a:ext>
                  </a:extLst>
                </a:gridCol>
                <a:gridCol w="2819737">
                  <a:extLst>
                    <a:ext uri="{9D8B030D-6E8A-4147-A177-3AD203B41FA5}">
                      <a16:colId xmlns:a16="http://schemas.microsoft.com/office/drawing/2014/main" val="2482733734"/>
                    </a:ext>
                  </a:extLst>
                </a:gridCol>
                <a:gridCol w="2819737">
                  <a:extLst>
                    <a:ext uri="{9D8B030D-6E8A-4147-A177-3AD203B41FA5}">
                      <a16:colId xmlns:a16="http://schemas.microsoft.com/office/drawing/2014/main" val="3920745359"/>
                    </a:ext>
                  </a:extLst>
                </a:gridCol>
              </a:tblGrid>
              <a:tr h="536762">
                <a:tc gridSpan="4"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Experience Level(Years)</a:t>
                      </a:r>
                      <a:endParaRPr lang="en-US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540698"/>
                  </a:ext>
                </a:extLst>
              </a:tr>
              <a:tr h="536762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Under 03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3 to 8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8 to 12 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Above 12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19865"/>
                  </a:ext>
                </a:extLst>
              </a:tr>
              <a:tr h="536762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27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36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129140"/>
                  </a:ext>
                </a:extLst>
              </a:tr>
              <a:tr h="536762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22.7 %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24.5 %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32.7 %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20 %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8064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62A0FCA-2277-4403-9A9E-0B8CFC173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232" y="3598433"/>
            <a:ext cx="6553768" cy="3259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E7F2BA-D435-4522-B3D3-4001322A5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58974"/>
            <a:ext cx="5800165" cy="152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74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7A3B-FA4A-4222-B7D4-AD6F0B19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0" dirty="0"/>
              <a:t>Corelations</a:t>
            </a:r>
            <a:endParaRPr lang="en-US" sz="8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18550-0EDC-441A-B763-A7D790BA6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F9C58-1B75-428A-9272-8B435BEC0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72445-000A-418D-9215-2F17B3EB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8" y="2106705"/>
            <a:ext cx="10901083" cy="347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1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E6D96E2-B8CF-4060-9762-9327696C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37A92E-D50A-42C0-89FC-4B3CAA19AD4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819646"/>
            <a:ext cx="5104435" cy="303835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16044DB-BD3B-4293-BE0B-7834FFF83D0D}"/>
              </a:ext>
            </a:extLst>
          </p:cNvPr>
          <p:cNvSpPr txBox="1">
            <a:spLocks/>
          </p:cNvSpPr>
          <p:nvPr/>
        </p:nvSpPr>
        <p:spPr>
          <a:xfrm>
            <a:off x="902830" y="533400"/>
            <a:ext cx="8401624" cy="1325563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Average salary according to Experience Level.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22B41-66DE-46A0-B3F5-749E86709FF3}"/>
              </a:ext>
            </a:extLst>
          </p:cNvPr>
          <p:cNvSpPr txBox="1"/>
          <p:nvPr/>
        </p:nvSpPr>
        <p:spPr>
          <a:xfrm>
            <a:off x="188259" y="1951130"/>
            <a:ext cx="9311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highlight>
                  <a:srgbClr val="FFFF00"/>
                </a:highlight>
              </a:rPr>
              <a:t>barplot</a:t>
            </a:r>
            <a:r>
              <a:rPr lang="en-US" sz="2400" dirty="0">
                <a:highlight>
                  <a:srgbClr val="FFFF00"/>
                </a:highlight>
              </a:rPr>
              <a:t>(c(17084,16819,13555,10400),main="Average salary according to experience level",</a:t>
            </a:r>
            <a:r>
              <a:rPr lang="en-US" sz="2400" dirty="0" err="1">
                <a:highlight>
                  <a:srgbClr val="FFFF00"/>
                </a:highlight>
              </a:rPr>
              <a:t>xlab</a:t>
            </a:r>
            <a:r>
              <a:rPr lang="en-US" sz="2400" dirty="0">
                <a:highlight>
                  <a:srgbClr val="FFFF00"/>
                </a:highlight>
              </a:rPr>
              <a:t>="Experience",</a:t>
            </a:r>
            <a:r>
              <a:rPr lang="en-US" sz="2400" dirty="0" err="1">
                <a:highlight>
                  <a:srgbClr val="FFFF00"/>
                </a:highlight>
              </a:rPr>
              <a:t>ylab</a:t>
            </a:r>
            <a:r>
              <a:rPr lang="en-US" sz="2400" dirty="0">
                <a:highlight>
                  <a:srgbClr val="FFFF00"/>
                </a:highlight>
              </a:rPr>
              <a:t>="</a:t>
            </a:r>
            <a:r>
              <a:rPr lang="en-US" sz="2400" dirty="0" err="1">
                <a:highlight>
                  <a:srgbClr val="FFFF00"/>
                </a:highlight>
              </a:rPr>
              <a:t>Salary",las</a:t>
            </a:r>
            <a:r>
              <a:rPr lang="en-US" sz="2400" dirty="0">
                <a:highlight>
                  <a:srgbClr val="FFFF00"/>
                </a:highlight>
              </a:rPr>
              <a:t>=1,names.arg = c("12 year","9 year","6 year","3 year"))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6BD7D1-F6FA-49C6-A061-70816C6D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728" y="3819646"/>
            <a:ext cx="4007225" cy="2901829"/>
          </a:xfrm>
        </p:spPr>
        <p:txBody>
          <a:bodyPr/>
          <a:lstStyle/>
          <a:p>
            <a:r>
              <a:rPr lang="en-GB" sz="4400" b="0" dirty="0"/>
              <a:t>12 year-17084 </a:t>
            </a:r>
            <a:br>
              <a:rPr lang="en-GB" sz="4400" b="0" dirty="0"/>
            </a:br>
            <a:r>
              <a:rPr lang="en-GB" sz="4400" b="0" dirty="0"/>
              <a:t>9 year-16819 </a:t>
            </a:r>
            <a:br>
              <a:rPr lang="en-GB" sz="4400" b="0" dirty="0"/>
            </a:br>
            <a:r>
              <a:rPr lang="en-GB" sz="4400" b="0" dirty="0"/>
              <a:t>6 year-13555</a:t>
            </a:r>
            <a:br>
              <a:rPr lang="en-GB" sz="4400" b="0" dirty="0"/>
            </a:br>
            <a:r>
              <a:rPr lang="en-GB" sz="4400" b="0" dirty="0"/>
              <a:t>3 year-10400</a:t>
            </a:r>
            <a:endParaRPr lang="en-US" sz="4400" b="0" dirty="0"/>
          </a:p>
        </p:txBody>
      </p:sp>
    </p:spTree>
    <p:extLst>
      <p:ext uri="{BB962C8B-B14F-4D97-AF65-F5344CB8AC3E}">
        <p14:creationId xmlns:p14="http://schemas.microsoft.com/office/powerpoint/2010/main" val="834664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4D24-8B3A-4503-8C5E-4F8FEB3EA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24360-B2AA-497A-A651-0B6302D1F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69E7-EBE4-4A6C-8F48-E40D868D4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94CB8F6-5243-4EFA-A0A4-AE012B6DE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971206"/>
              </p:ext>
            </p:extLst>
          </p:nvPr>
        </p:nvGraphicFramePr>
        <p:xfrm>
          <a:off x="0" y="1815768"/>
          <a:ext cx="12192000" cy="5000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0431539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435759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147299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665585023"/>
                    </a:ext>
                  </a:extLst>
                </a:gridCol>
              </a:tblGrid>
              <a:tr h="592152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Hypothesis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X2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P-Value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Result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425623"/>
                  </a:ext>
                </a:extLst>
              </a:tr>
              <a:tr h="2204408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am getting minimum wages as per Bangladesh Labor Act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10.509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0.001188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Greater evidence against the null hypothesis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59196"/>
                  </a:ext>
                </a:extLst>
              </a:tr>
              <a:tr h="2204408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get paid overtime as double the normal working hours.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5.2364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0.02212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Greater evidence against the null hypothesis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4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409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4D24-8B3A-4503-8C5E-4F8FEB3EA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24360-B2AA-497A-A651-0B6302D1F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69E7-EBE4-4A6C-8F48-E40D868D4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94CB8F6-5243-4EFA-A0A4-AE012B6DE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463272"/>
              </p:ext>
            </p:extLst>
          </p:nvPr>
        </p:nvGraphicFramePr>
        <p:xfrm>
          <a:off x="0" y="1815768"/>
          <a:ext cx="12192000" cy="5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0431539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435759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147299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665585023"/>
                    </a:ext>
                  </a:extLst>
                </a:gridCol>
              </a:tblGrid>
              <a:tr h="592152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Hypothesis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X2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P-Value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Result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425623"/>
                  </a:ext>
                </a:extLst>
              </a:tr>
              <a:tr h="220440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 company pays me basic 40% as house rent, medical allowance Rs 250, food allowance Rs 300 and transport allowance Rs 650 along with basic wages as per law.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39.6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0.00014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Greater evidence against the null hypothesis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59196"/>
                  </a:ext>
                </a:extLst>
              </a:tr>
              <a:tr h="220440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 company provides me gratuity, provident fund, insurance benefits and retirement benefits as per law.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9.3091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0.00228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Greater evidence against the null hypothesis</a:t>
                      </a:r>
                      <a:endParaRPr lang="en-US" sz="2800" dirty="0"/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4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890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4D24-8B3A-4503-8C5E-4F8FEB3EA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24360-B2AA-497A-A651-0B6302D1F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69E7-EBE4-4A6C-8F48-E40D868D4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3EA3F910-3293-4119-B0F9-4F8BCAFDB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919485"/>
              </p:ext>
            </p:extLst>
          </p:nvPr>
        </p:nvGraphicFramePr>
        <p:xfrm>
          <a:off x="-25400" y="1806416"/>
          <a:ext cx="12217400" cy="580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350">
                  <a:extLst>
                    <a:ext uri="{9D8B030D-6E8A-4147-A177-3AD203B41FA5}">
                      <a16:colId xmlns:a16="http://schemas.microsoft.com/office/drawing/2014/main" val="1348198310"/>
                    </a:ext>
                  </a:extLst>
                </a:gridCol>
                <a:gridCol w="3054350">
                  <a:extLst>
                    <a:ext uri="{9D8B030D-6E8A-4147-A177-3AD203B41FA5}">
                      <a16:colId xmlns:a16="http://schemas.microsoft.com/office/drawing/2014/main" val="869491138"/>
                    </a:ext>
                  </a:extLst>
                </a:gridCol>
                <a:gridCol w="3054350">
                  <a:extLst>
                    <a:ext uri="{9D8B030D-6E8A-4147-A177-3AD203B41FA5}">
                      <a16:colId xmlns:a16="http://schemas.microsoft.com/office/drawing/2014/main" val="2075135041"/>
                    </a:ext>
                  </a:extLst>
                </a:gridCol>
                <a:gridCol w="3054350">
                  <a:extLst>
                    <a:ext uri="{9D8B030D-6E8A-4147-A177-3AD203B41FA5}">
                      <a16:colId xmlns:a16="http://schemas.microsoft.com/office/drawing/2014/main" val="3137750267"/>
                    </a:ext>
                  </a:extLst>
                </a:gridCol>
              </a:tblGrid>
              <a:tr h="1262896">
                <a:tc>
                  <a:txBody>
                    <a:bodyPr/>
                    <a:lstStyle/>
                    <a:p>
                      <a:r>
                        <a:rPr lang="en-GB" sz="2800" dirty="0"/>
                        <a:t>Hypothesis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X2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P-Value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Result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359623"/>
                  </a:ext>
                </a:extLst>
              </a:tr>
              <a:tr h="1262896">
                <a:tc>
                  <a:txBody>
                    <a:bodyPr/>
                    <a:lstStyle/>
                    <a:p>
                      <a:r>
                        <a:rPr lang="en-GB" sz="2800" dirty="0"/>
                        <a:t>My company pays me regular annual increments.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17.6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0.0183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Greater evidence against the null hypothesis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200776"/>
                  </a:ext>
                </a:extLst>
              </a:tr>
              <a:tr h="1262896">
                <a:tc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wage earned enough to live well.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8.1818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0.004231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Greater evidence against the null hypothesis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602726"/>
                  </a:ext>
                </a:extLst>
              </a:tr>
              <a:tr h="1262896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need for any subsidy beyond the salary.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2.3273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0.1271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Greater evidence against the alternative hypothesis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817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5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4D24-8B3A-4503-8C5E-4F8FEB3E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9988"/>
            <a:ext cx="9779183" cy="1325563"/>
          </a:xfrm>
        </p:spPr>
        <p:txBody>
          <a:bodyPr/>
          <a:lstStyle/>
          <a:p>
            <a:r>
              <a:rPr lang="en-GB" dirty="0"/>
              <a:t>Hypothesis Test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24360-B2AA-497A-A651-0B6302D1F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69E7-EBE4-4A6C-8F48-E40D868D4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94CB8F6-5243-4EFA-A0A4-AE012B6DE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975325"/>
              </p:ext>
            </p:extLst>
          </p:nvPr>
        </p:nvGraphicFramePr>
        <p:xfrm>
          <a:off x="0" y="2643808"/>
          <a:ext cx="12192000" cy="5353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04315391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44357598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9495661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7147299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665585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Hypothesis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Critical Value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Confidence Level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t-Value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Result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425623"/>
                  </a:ext>
                </a:extLst>
              </a:tr>
              <a:tr h="2204408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salary=15988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-1.9820 and 1.9820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95 %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-7.6025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Rejected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59196"/>
                  </a:ext>
                </a:extLst>
              </a:tr>
              <a:tr h="2204408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Expenditure=185961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-1.9820 and 1.9820</a:t>
                      </a:r>
                      <a:endParaRPr lang="en-US" sz="2800" dirty="0"/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95 %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1.9495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Accepted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4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001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15530-1CA5-61BE-D610-072A7CAAD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F9F4E5-6C48-464D-8AE8-EBD60956F59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79" y="1724796"/>
            <a:ext cx="6147771" cy="33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F2D1024-BCB1-4D13-B8AB-7AD89165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 salary of Male and Female</a:t>
            </a:r>
            <a:endParaRPr lang="en-US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5FB62DF8-2F6D-4DCB-B4A3-76F6F7BBE936}"/>
              </a:ext>
            </a:extLst>
          </p:cNvPr>
          <p:cNvSpPr txBox="1">
            <a:spLocks/>
          </p:cNvSpPr>
          <p:nvPr/>
        </p:nvSpPr>
        <p:spPr>
          <a:xfrm>
            <a:off x="1771305" y="5172868"/>
            <a:ext cx="97791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Male      : 13642.86</a:t>
            </a:r>
          </a:p>
          <a:p>
            <a:r>
              <a:rPr lang="en-GB" dirty="0"/>
              <a:t>Female  :13676.47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5E1882-32BD-4F1E-BCF0-A056826C7B5E}"/>
              </a:ext>
            </a:extLst>
          </p:cNvPr>
          <p:cNvSpPr txBox="1"/>
          <p:nvPr/>
        </p:nvSpPr>
        <p:spPr>
          <a:xfrm>
            <a:off x="6057083" y="248500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highlight>
                  <a:srgbClr val="FFFF00"/>
                </a:highlight>
              </a:rPr>
              <a:t>barplot</a:t>
            </a:r>
            <a:r>
              <a:rPr lang="en-US" sz="2400" dirty="0">
                <a:highlight>
                  <a:srgbClr val="FFFF00"/>
                </a:highlight>
              </a:rPr>
              <a:t>(c(13642.86,13676.47),main="</a:t>
            </a:r>
            <a:r>
              <a:rPr lang="en-US" sz="2400" dirty="0" err="1">
                <a:highlight>
                  <a:srgbClr val="FFFF00"/>
                </a:highlight>
              </a:rPr>
              <a:t>Avarage</a:t>
            </a:r>
            <a:r>
              <a:rPr lang="en-US" sz="2400" dirty="0">
                <a:highlight>
                  <a:srgbClr val="FFFF00"/>
                </a:highlight>
              </a:rPr>
              <a:t> salary of Male and Female",</a:t>
            </a:r>
            <a:r>
              <a:rPr lang="en-US" sz="2400" dirty="0" err="1">
                <a:highlight>
                  <a:srgbClr val="FFFF00"/>
                </a:highlight>
              </a:rPr>
              <a:t>xlab</a:t>
            </a:r>
            <a:r>
              <a:rPr lang="en-US" sz="2400" dirty="0">
                <a:highlight>
                  <a:srgbClr val="FFFF00"/>
                </a:highlight>
              </a:rPr>
              <a:t>="Salary",</a:t>
            </a:r>
            <a:r>
              <a:rPr lang="en-US" sz="2400" dirty="0" err="1">
                <a:highlight>
                  <a:srgbClr val="FFFF00"/>
                </a:highlight>
              </a:rPr>
              <a:t>ylab</a:t>
            </a:r>
            <a:r>
              <a:rPr lang="en-US" sz="2400" dirty="0">
                <a:highlight>
                  <a:srgbClr val="FFFF00"/>
                </a:highlight>
              </a:rPr>
              <a:t>="</a:t>
            </a:r>
            <a:r>
              <a:rPr lang="en-US" sz="2400" dirty="0" err="1">
                <a:highlight>
                  <a:srgbClr val="FFFF00"/>
                </a:highlight>
              </a:rPr>
              <a:t>Gender",las</a:t>
            </a:r>
            <a:r>
              <a:rPr lang="en-US" sz="2400" dirty="0">
                <a:highlight>
                  <a:srgbClr val="FFFF00"/>
                </a:highlight>
              </a:rPr>
              <a:t>=1,names.arg = c("</a:t>
            </a:r>
            <a:r>
              <a:rPr lang="en-US" sz="2400" dirty="0" err="1">
                <a:highlight>
                  <a:srgbClr val="FFFF00"/>
                </a:highlight>
              </a:rPr>
              <a:t>Male","Female</a:t>
            </a:r>
            <a:r>
              <a:rPr lang="en-US" sz="2400" dirty="0">
                <a:highlight>
                  <a:srgbClr val="FFFF00"/>
                </a:highlight>
              </a:rPr>
              <a:t>"),</a:t>
            </a:r>
            <a:r>
              <a:rPr lang="en-US" sz="2400" dirty="0" err="1">
                <a:highlight>
                  <a:srgbClr val="FFFF00"/>
                </a:highlight>
              </a:rPr>
              <a:t>horiz</a:t>
            </a:r>
            <a:r>
              <a:rPr lang="en-US" sz="2400" dirty="0">
                <a:highlight>
                  <a:srgbClr val="FFFF00"/>
                </a:highlight>
              </a:rPr>
              <a:t> = T)</a:t>
            </a:r>
          </a:p>
        </p:txBody>
      </p:sp>
    </p:spTree>
    <p:extLst>
      <p:ext uri="{BB962C8B-B14F-4D97-AF65-F5344CB8AC3E}">
        <p14:creationId xmlns:p14="http://schemas.microsoft.com/office/powerpoint/2010/main" val="343429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15530-1CA5-61BE-D610-072A7CAAD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F2D1024-BCB1-4D13-B8AB-7AD89165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 salary according to education level</a:t>
            </a:r>
            <a:endParaRPr lang="en-US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5FB62DF8-2F6D-4DCB-B4A3-76F6F7BBE936}"/>
              </a:ext>
            </a:extLst>
          </p:cNvPr>
          <p:cNvSpPr txBox="1">
            <a:spLocks/>
          </p:cNvSpPr>
          <p:nvPr/>
        </p:nvSpPr>
        <p:spPr>
          <a:xfrm>
            <a:off x="266596" y="2012978"/>
            <a:ext cx="5590913" cy="22580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/>
              <a:t>Primary     :13038</a:t>
            </a:r>
          </a:p>
          <a:p>
            <a:r>
              <a:rPr lang="en-GB" sz="4000" dirty="0"/>
              <a:t>Secondary :12568</a:t>
            </a:r>
          </a:p>
          <a:p>
            <a:r>
              <a:rPr lang="en-GB" sz="4000" dirty="0"/>
              <a:t>Higher Sec :14045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E9B043-E1A0-4262-AB6C-F1D12860090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491" y="1744181"/>
            <a:ext cx="5857509" cy="29029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7413B2-E9EA-48A0-B4BD-A2F63AEAD0D5}"/>
              </a:ext>
            </a:extLst>
          </p:cNvPr>
          <p:cNvSpPr txBox="1"/>
          <p:nvPr/>
        </p:nvSpPr>
        <p:spPr>
          <a:xfrm>
            <a:off x="1272988" y="4827965"/>
            <a:ext cx="102376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highlight>
                  <a:srgbClr val="FFFF00"/>
                </a:highlight>
              </a:rPr>
              <a:t>barplot</a:t>
            </a:r>
            <a:r>
              <a:rPr lang="en-US" sz="3200" dirty="0">
                <a:highlight>
                  <a:srgbClr val="FFFF00"/>
                </a:highlight>
              </a:rPr>
              <a:t>(c(14045,12568,13038),main="Average salary according to education level",</a:t>
            </a:r>
            <a:r>
              <a:rPr lang="en-US" sz="3200" dirty="0" err="1">
                <a:highlight>
                  <a:srgbClr val="FFFF00"/>
                </a:highlight>
              </a:rPr>
              <a:t>xlab</a:t>
            </a:r>
            <a:r>
              <a:rPr lang="en-US" sz="3200" dirty="0">
                <a:highlight>
                  <a:srgbClr val="FFFF00"/>
                </a:highlight>
              </a:rPr>
              <a:t>="Education",</a:t>
            </a:r>
            <a:r>
              <a:rPr lang="en-US" sz="3200" dirty="0" err="1">
                <a:highlight>
                  <a:srgbClr val="FFFF00"/>
                </a:highlight>
              </a:rPr>
              <a:t>ylab</a:t>
            </a:r>
            <a:r>
              <a:rPr lang="en-US" sz="3200" dirty="0">
                <a:highlight>
                  <a:srgbClr val="FFFF00"/>
                </a:highlight>
              </a:rPr>
              <a:t>="</a:t>
            </a:r>
            <a:r>
              <a:rPr lang="en-US" sz="3200" dirty="0" err="1">
                <a:highlight>
                  <a:srgbClr val="FFFF00"/>
                </a:highlight>
              </a:rPr>
              <a:t>Salary",las</a:t>
            </a:r>
            <a:r>
              <a:rPr lang="en-US" sz="3200" dirty="0">
                <a:highlight>
                  <a:srgbClr val="FFFF00"/>
                </a:highlight>
              </a:rPr>
              <a:t>=1,names.arg = c("Higher </a:t>
            </a:r>
            <a:r>
              <a:rPr lang="en-US" sz="3200" dirty="0" err="1">
                <a:highlight>
                  <a:srgbClr val="FFFF00"/>
                </a:highlight>
              </a:rPr>
              <a:t>Secondary","Secondary","Primary</a:t>
            </a:r>
            <a:r>
              <a:rPr lang="en-US" sz="3200" dirty="0">
                <a:highlight>
                  <a:srgbClr val="FFFF00"/>
                </a:highlight>
              </a:rPr>
              <a:t>"))</a:t>
            </a:r>
          </a:p>
        </p:txBody>
      </p:sp>
    </p:spTree>
    <p:extLst>
      <p:ext uri="{BB962C8B-B14F-4D97-AF65-F5344CB8AC3E}">
        <p14:creationId xmlns:p14="http://schemas.microsoft.com/office/powerpoint/2010/main" val="2305627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B7D2-D5D2-4DFC-8032-248F3168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9" y="5259729"/>
            <a:ext cx="9476680" cy="1614668"/>
          </a:xfrm>
        </p:spPr>
        <p:txBody>
          <a:bodyPr/>
          <a:lstStyle/>
          <a:p>
            <a:r>
              <a:rPr lang="en-GB" sz="4000" b="0" dirty="0"/>
              <a:t>Therefore , considering  current </a:t>
            </a:r>
            <a:r>
              <a:rPr lang="en-GB" sz="4000" b="0" dirty="0" err="1"/>
              <a:t>situation,consideration</a:t>
            </a:r>
            <a:r>
              <a:rPr lang="en-GB" sz="4000" b="0" dirty="0"/>
              <a:t> should be given to increase the salary of garments workers.</a:t>
            </a:r>
            <a:endParaRPr lang="en-US" sz="4000" b="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E6D96E2-B8CF-4060-9762-9327696C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16044DB-BD3B-4293-BE0B-7834FFF83D0D}"/>
              </a:ext>
            </a:extLst>
          </p:cNvPr>
          <p:cNvSpPr txBox="1">
            <a:spLocks/>
          </p:cNvSpPr>
          <p:nvPr/>
        </p:nvSpPr>
        <p:spPr>
          <a:xfrm>
            <a:off x="23154" y="0"/>
            <a:ext cx="9764411" cy="2036180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/>
              <a:t>According to analysing we observe that their income and expenditure are not consistent according to present situation.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1A933-1999-4411-B43D-E6A6BF47E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4" y="1989881"/>
            <a:ext cx="5112444" cy="32698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45646C-77C9-44A2-B817-020BD378A3CE}"/>
              </a:ext>
            </a:extLst>
          </p:cNvPr>
          <p:cNvSpPr/>
          <p:nvPr/>
        </p:nvSpPr>
        <p:spPr>
          <a:xfrm>
            <a:off x="3449256" y="4016415"/>
            <a:ext cx="1516283" cy="787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Yes-36%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No-63.6%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124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627C01-E0E3-40AD-997E-C008CC646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129361"/>
            <a:ext cx="6220278" cy="2387600"/>
          </a:xfrm>
        </p:spPr>
        <p:txBody>
          <a:bodyPr/>
          <a:lstStyle/>
          <a:p>
            <a:pPr algn="ctr"/>
            <a:br>
              <a:rPr lang="en-GB" sz="8800" i="1" dirty="0"/>
            </a:br>
            <a:r>
              <a:rPr lang="en-GB" sz="8800" i="1" dirty="0"/>
              <a:t>THANK YOU</a:t>
            </a:r>
            <a:endParaRPr lang="en-US" sz="8800" i="1" dirty="0"/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al presentation" id="{4A1BE7B5-16BB-4EDB-94C0-CDDC43FF64E7}" vid="{7F008C83-F8F9-4FE6-A625-57BD0F448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C465B7-820B-4DEA-AB4B-5167C1BE90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1796</TotalTime>
  <Words>631</Words>
  <Application>Microsoft Office PowerPoint</Application>
  <PresentationFormat>Widescreen</PresentationFormat>
  <Paragraphs>167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Narrow</vt:lpstr>
      <vt:lpstr>Calibri</vt:lpstr>
      <vt:lpstr>Tenorite</vt:lpstr>
      <vt:lpstr>Office Theme</vt:lpstr>
      <vt:lpstr>WELCOME TO OUR PRESENTATION </vt:lpstr>
      <vt:lpstr>A Study of Garment Worker Wages and Expenses.</vt:lpstr>
      <vt:lpstr>Let’s meet with our team</vt:lpstr>
      <vt:lpstr>Agenda</vt:lpstr>
      <vt:lpstr>Introduction</vt:lpstr>
      <vt:lpstr>         Sample Populations:                                    Garments Workers  </vt:lpstr>
      <vt:lpstr>Contribution of RMG sector in national Economy.</vt:lpstr>
      <vt:lpstr>PowerPoint Presentation</vt:lpstr>
      <vt:lpstr>Collected Data  Total 110</vt:lpstr>
      <vt:lpstr>Collected Data  Total 110</vt:lpstr>
      <vt:lpstr>Collected Data  Total 110</vt:lpstr>
      <vt:lpstr>Collected Data  Total 110</vt:lpstr>
      <vt:lpstr>Corelations</vt:lpstr>
      <vt:lpstr>12 year-17084  9 year-16819  6 year-13555 3 year-10400</vt:lpstr>
      <vt:lpstr>Hypothesis Test</vt:lpstr>
      <vt:lpstr>Hypothesis Test</vt:lpstr>
      <vt:lpstr>Hypothesis Test</vt:lpstr>
      <vt:lpstr>Hypothesis Test</vt:lpstr>
      <vt:lpstr>Average salary of Male and Female</vt:lpstr>
      <vt:lpstr>Average salary according to education level</vt:lpstr>
      <vt:lpstr>Therefore , considering  current situation,consideration should be given to increase the salary of garments workers.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Our Presentation</dc:title>
  <dc:creator>Selim Ahmed Akash</dc:creator>
  <cp:lastModifiedBy>Selim Ahmed</cp:lastModifiedBy>
  <cp:revision>42</cp:revision>
  <dcterms:created xsi:type="dcterms:W3CDTF">2023-12-09T16:10:03Z</dcterms:created>
  <dcterms:modified xsi:type="dcterms:W3CDTF">2025-12-01T11:26:43Z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